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 - Kapitel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- Kapitel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Stichpunkt: Text in 14 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lnSpc>
          <a:spcPts val="2600"/>
        </a:lnSpc>
        <a:spcBef>
          <a:spcPts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85750" indent="-285750">
        <a:spcAft>
          <a:spcPts val="1800"/>
        </a:spcAft>
        <a:buClr>
          <a:srgbClr val="000000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5750">
        <a:spcAft>
          <a:spcPts val="600"/>
        </a:spcAft>
        <a:buClr>
          <a:srgbClr val="000000"/>
        </a:buClr>
        <a:buFont typeface="Arial" pitchFamily="34" charset="0"/>
        <a:buChar char="–"/>
        <a:defRPr sz="1400"/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Stadien sind weit mehr als nur Infrastruktur für den Spielbetrieb des Profifußballs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7400" y="21971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 Stadien verbinden…</a:t>
            </a:r>
            <a:endParaRPr lang="en-US" sz="1400" dirty="0"/>
          </a:p>
        </p:txBody>
      </p:sp>
      <p:pic>
        <p:nvPicPr>
          <p:cNvPr id="4" name="Icon-1" descr="/home/user/EastEnd-46/ppt-master/media/icon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2724150"/>
            <a:ext cx="292100" cy="292100"/>
          </a:xfrm>
          <a:prstGeom prst="rect">
            <a:avLst/>
          </a:prstGeom>
        </p:spPr>
      </p:pic>
      <p:sp>
        <p:nvSpPr>
          <p:cNvPr id="5" name="Icon-Text-2"/>
          <p:cNvSpPr txBox="1"/>
          <p:nvPr/>
        </p:nvSpPr>
        <p:spPr>
          <a:xfrm>
            <a:off x="1073150" y="271145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Menschen und Gesellschaft: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Erlebnisse in einer zunehmend fragmentierten Welt</a:t>
            </a:r>
            <a:endParaRPr lang="en-US" sz="1400" dirty="0"/>
          </a:p>
        </p:txBody>
      </p:sp>
      <p:pic>
        <p:nvPicPr>
          <p:cNvPr id="6" name="Icon-3" descr="/home/user/EastEnd-46/ppt-master/media/icon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242310"/>
            <a:ext cx="292100" cy="292100"/>
          </a:xfrm>
          <a:prstGeom prst="rect">
            <a:avLst/>
          </a:prstGeom>
        </p:spPr>
      </p:pic>
      <p:sp>
        <p:nvSpPr>
          <p:cNvPr id="7" name="Icon-Text-4"/>
          <p:cNvSpPr txBox="1"/>
          <p:nvPr/>
        </p:nvSpPr>
        <p:spPr>
          <a:xfrm>
            <a:off x="1073150" y="322961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und Emotion: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identitätsstiftende Plattformen mit außergewöhnlicher Bindung</a:t>
            </a:r>
            <a:endParaRPr lang="en-US" sz="1400" dirty="0"/>
          </a:p>
        </p:txBody>
      </p:sp>
      <p:pic>
        <p:nvPicPr>
          <p:cNvPr id="8" name="Icon-5" descr="/home/user/EastEnd-46/ppt-master/media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3760470"/>
            <a:ext cx="292100" cy="292100"/>
          </a:xfrm>
          <a:prstGeom prst="rect">
            <a:avLst/>
          </a:prstGeom>
        </p:spPr>
      </p:pic>
      <p:sp>
        <p:nvSpPr>
          <p:cNvPr id="9" name="Icon-Text-6"/>
          <p:cNvSpPr txBox="1"/>
          <p:nvPr/>
        </p:nvSpPr>
        <p:spPr>
          <a:xfrm>
            <a:off x="1073150" y="374777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Medien und Reichweite: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Ausgangspunkt eines national &amp; international vermarktbaren Produkts</a:t>
            </a:r>
            <a:endParaRPr lang="en-US" sz="1400" dirty="0"/>
          </a:p>
        </p:txBody>
      </p:sp>
      <p:pic>
        <p:nvPicPr>
          <p:cNvPr id="10" name="Icon-7" descr="/home/user/EastEnd-46/ppt-master/media/icon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4278630"/>
            <a:ext cx="292100" cy="292100"/>
          </a:xfrm>
          <a:prstGeom prst="rect">
            <a:avLst/>
          </a:prstGeom>
        </p:spPr>
      </p:pic>
      <p:sp>
        <p:nvSpPr>
          <p:cNvPr id="11" name="Icon-Text-8"/>
          <p:cNvSpPr txBox="1"/>
          <p:nvPr/>
        </p:nvSpPr>
        <p:spPr>
          <a:xfrm>
            <a:off x="1073150" y="426593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Marken und Unternehmen: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emotionale Aufladung von Partnerschaften und Standorten</a:t>
            </a:r>
            <a:endParaRPr lang="en-US" sz="1400" dirty="0"/>
          </a:p>
        </p:txBody>
      </p:sp>
      <p:pic>
        <p:nvPicPr>
          <p:cNvPr id="12" name="Icon-9" descr="/home/user/EastEnd-46/ppt-master/media/icon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4796790"/>
            <a:ext cx="292100" cy="292100"/>
          </a:xfrm>
          <a:prstGeom prst="rect">
            <a:avLst/>
          </a:prstGeom>
        </p:spPr>
      </p:pic>
      <p:sp>
        <p:nvSpPr>
          <p:cNvPr id="13" name="Icon-Text-10"/>
          <p:cNvSpPr txBox="1"/>
          <p:nvPr/>
        </p:nvSpPr>
        <p:spPr>
          <a:xfrm>
            <a:off x="1073150" y="478409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Überregionale Wertschöpfung: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für Unternehmen, Tourismus und Dienstleistungen</a:t>
            </a:r>
            <a:endParaRPr lang="en-US" sz="1400" dirty="0"/>
          </a:p>
        </p:txBody>
      </p:sp>
      <p:pic>
        <p:nvPicPr>
          <p:cNvPr id="14" name="Foto" descr="/home/user/EastEnd-46/ppt-master/media/photo_fea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764" y="1670558"/>
            <a:ext cx="2943860" cy="3962527"/>
          </a:xfrm>
          <a:prstGeom prst="rect">
            <a:avLst/>
          </a:prstGeom>
        </p:spPr>
      </p:pic>
      <p:sp>
        <p:nvSpPr>
          <p:cNvPr id="15" name="Kernaussage-11"/>
          <p:cNvSpPr/>
          <p:nvPr/>
        </p:nvSpPr>
        <p:spPr>
          <a:xfrm>
            <a:off x="2528570" y="5633720"/>
            <a:ext cx="7134860" cy="5588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Stadien führen an ihren Standorten Sport, Emotionen, Medien und wirtschaftliche Wertschöpfung zusammen – und sind damit zentrale gesellschaftliche Plattformen</a:t>
            </a:r>
            <a:endParaRPr lang="en-US" sz="1400" dirty="0"/>
          </a:p>
        </p:txBody>
      </p:sp>
      <p:sp>
        <p:nvSpPr>
          <p:cNvPr id="16" name="Kernaussage-Pfeil-12"/>
          <p:cNvSpPr/>
          <p:nvPr/>
        </p:nvSpPr>
        <p:spPr>
          <a:xfrm rot="5400000">
            <a:off x="2263458" y="5809933"/>
            <a:ext cx="530860" cy="206375"/>
          </a:xfrm>
          <a:prstGeom prst="triangl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 kann Stadioninfrastruktur als internationales Schaufenster nutzen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562100" y="1676400"/>
            <a:ext cx="336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 hat bei der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 2006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gezeigt, wie Infrastrukturinvestitionen und die Ausrichtung eines internationalen Turniers zur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Entfaltung internationaler Strahlkraft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beitragen können…</a:t>
            </a:r>
            <a:endParaRPr lang="en-US" sz="1400" dirty="0"/>
          </a:p>
        </p:txBody>
      </p:sp>
      <p:pic>
        <p:nvPicPr>
          <p:cNvPr id="4" name="Hintergrundfoto" descr="/home/user/EastEnd-46/ppt-master/media/photo_back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0700" y="1741170"/>
            <a:ext cx="4626610" cy="3590290"/>
          </a:xfrm>
          <a:prstGeom prst="rect">
            <a:avLst/>
          </a:prstGeom>
        </p:spPr>
      </p:pic>
      <p:sp>
        <p:nvSpPr>
          <p:cNvPr id="5" name="Kennzahl-13"/>
          <p:cNvSpPr txBox="1"/>
          <p:nvPr/>
        </p:nvSpPr>
        <p:spPr>
          <a:xfrm>
            <a:off x="5118100" y="1689100"/>
            <a:ext cx="168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~3,4 Mrd. €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045960" y="1689100"/>
            <a:ext cx="438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Investitionen in Stadien und Infrastruktur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18100" y="2374900"/>
            <a:ext cx="6375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8" name="Kennzahl-14"/>
          <p:cNvSpPr txBox="1"/>
          <p:nvPr/>
        </p:nvSpPr>
        <p:spPr>
          <a:xfrm>
            <a:off x="5118100" y="2369820"/>
            <a:ext cx="168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35.000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045960" y="2369820"/>
            <a:ext cx="438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geschaffene Jobs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(Jahres-FTE)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18100" y="3055620"/>
            <a:ext cx="6375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1" name="Kennzahl-15"/>
          <p:cNvSpPr txBox="1"/>
          <p:nvPr/>
        </p:nvSpPr>
        <p:spPr>
          <a:xfrm>
            <a:off x="5118100" y="3050540"/>
            <a:ext cx="168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~3,2 Mrd. €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045960" y="3050540"/>
            <a:ext cx="438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Netto-Effekt auf Bruttoinlandsprodukt im Jahr 2006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18100" y="3736340"/>
            <a:ext cx="6375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5960" y="37719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 Zustimmungswerte stark gestiegen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(z.B. in allen Dimensionen „Anholt Nation Brand Index“)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70700" y="4451350"/>
            <a:ext cx="46228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5960" y="4495800"/>
            <a:ext cx="4381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Nationales Gemeinschaftsgefühl und Patriotismus in der Gesellschaft spürbar verbessert</a:t>
            </a:r>
            <a:endParaRPr lang="en-US" sz="1400" dirty="0"/>
          </a:p>
        </p:txBody>
      </p:sp>
      <p:sp>
        <p:nvSpPr>
          <p:cNvPr id="17" name="Randnotiz"/>
          <p:cNvSpPr/>
          <p:nvPr/>
        </p:nvSpPr>
        <p:spPr>
          <a:xfrm>
            <a:off x="5156200" y="3956050"/>
            <a:ext cx="13716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E4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47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insbesondere weiche und symbolische Faktoren</a:t>
            </a:r>
            <a:endParaRPr lang="en-US" sz="1400" dirty="0"/>
          </a:p>
        </p:txBody>
      </p:sp>
      <p:sp>
        <p:nvSpPr>
          <p:cNvPr id="18" name="Kernaussage-16"/>
          <p:cNvSpPr/>
          <p:nvPr/>
        </p:nvSpPr>
        <p:spPr>
          <a:xfrm>
            <a:off x="1346200" y="5613400"/>
            <a:ext cx="9499600" cy="5588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neue Generation deutscher Stadien kann zeigen, wofür deutsche Ingenieurskunst weiterhin steht: technologisch führende, wirtschaftlich tragfähige und ökologisch nachhaltige Infrastruktur mit langfristigen Nutzungskonzepten.</a:t>
            </a:r>
            <a:endParaRPr lang="en-US" sz="1400" dirty="0"/>
          </a:p>
        </p:txBody>
      </p:sp>
      <p:sp>
        <p:nvSpPr>
          <p:cNvPr id="19" name="Kernaussage-Pfeil-17"/>
          <p:cNvSpPr/>
          <p:nvPr/>
        </p:nvSpPr>
        <p:spPr>
          <a:xfrm rot="5400000">
            <a:off x="1081088" y="5789613"/>
            <a:ext cx="530860" cy="206375"/>
          </a:xfrm>
          <a:prstGeom prst="triangl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 steht vor einem neuen Investitionszyklus in Stadion- und Digitalinfrastruktur</a:t>
            </a:r>
            <a:endParaRPr lang="en-US" sz="2400" dirty="0"/>
          </a:p>
        </p:txBody>
      </p:sp>
      <p:sp>
        <p:nvSpPr>
          <p:cNvPr id="3" name="Text 6"/>
          <p:cNvSpPr/>
          <p:nvPr>
            <p:ph idx="107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Investitionszyklus: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deutsche Stadien wurden rund um die Männer-WM 2006 neu gebaut oder umfassend modernisiert – in den kommenden Jahren entsteht erneut struktureller Erneuerungsbedarf.</a:t>
            </a:r>
            <a:endParaRPr lang="en-US" sz="1400" dirty="0"/>
          </a:p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Anforderungen: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Medienprodukt, Konnektivität, Daten, Sicherheit, Nachhaltigkeit, Hospitality und Fan-Erlebnis entwickeln sich schneller als klassische Stadionzyklen.</a:t>
            </a:r>
            <a:endParaRPr lang="en-US" sz="1400" dirty="0"/>
          </a:p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Optimierungsbedarf: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Infrastruktur sowie mediale, digitale und kommerzielle Verwertbarkeit vieler Standorte entsprechen nicht mehr den neuesten Möglichkeiten.</a:t>
            </a:r>
            <a:endParaRPr lang="en-US" sz="1400" dirty="0"/>
          </a:p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Wettbewerbsdruck: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europäische Ligen und Clubs investieren – teils unterstützt durch hohe externe Kapitalzuflüsse – erheblich in Infrastruktur und Technologie.</a:t>
            </a:r>
            <a:endParaRPr lang="en-US" sz="1400" dirty="0"/>
          </a:p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 als Katalysator: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Mögliche Männer-WM 2038 oder 2042 kann bestehende Bedarfe beschleunigen.</a:t>
            </a:r>
            <a:endParaRPr lang="en-US" sz="1400" dirty="0"/>
          </a:p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Zeitfenster: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Frühzeitige Planung, Standardisierung und Finanzierung vermeiden spätere Einzellösungen unter Zeit- und Kostendruck – relevanter Investitions- und Bauzeitraum dürfte 2033-2037 liegen, entsprechend besteht bereits heute Zeitdruck</a:t>
            </a:r>
            <a:endParaRPr lang="en-US" sz="1400" dirty="0"/>
          </a:p>
        </p:txBody>
      </p:sp>
      <p:sp>
        <p:nvSpPr>
          <p:cNvPr id="4" name="Kernaussage-18"/>
          <p:cNvSpPr/>
          <p:nvPr/>
        </p:nvSpPr>
        <p:spPr>
          <a:xfrm>
            <a:off x="2012950" y="5562600"/>
            <a:ext cx="7658100" cy="5588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 benötigt in den kommenden 10 bis 15 Jahren eine 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Generation physischer und digitaler Stadioninfrastruktur</a:t>
            </a:r>
            <a:endParaRPr lang="en-US" sz="1400" dirty="0"/>
          </a:p>
        </p:txBody>
      </p:sp>
      <p:sp>
        <p:nvSpPr>
          <p:cNvPr id="5" name="Kernaussage-Pfeil-19"/>
          <p:cNvSpPr/>
          <p:nvPr/>
        </p:nvSpPr>
        <p:spPr>
          <a:xfrm rot="5400000">
            <a:off x="1747838" y="5738813"/>
            <a:ext cx="530860" cy="206375"/>
          </a:xfrm>
          <a:prstGeom prst="triangl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 hat eine europaweit führende Stadiongeneration für die kommenden Jahrzehnte</a:t>
            </a:r>
            <a:endParaRPr lang="en-US" sz="2400" dirty="0"/>
          </a:p>
        </p:txBody>
      </p:sp>
      <p:sp>
        <p:nvSpPr>
          <p:cNvPr id="3" name="Abschnitt-20"/>
          <p:cNvSpPr txBox="1"/>
          <p:nvPr/>
        </p:nvSpPr>
        <p:spPr>
          <a:xfrm>
            <a:off x="787400" y="1854200"/>
            <a:ext cx="389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Übergreifendes Zielbild</a:t>
            </a:r>
            <a:endParaRPr lang="en-US" sz="1400" dirty="0"/>
          </a:p>
        </p:txBody>
      </p:sp>
      <p:sp>
        <p:nvSpPr>
          <p:cNvPr id="4" name="Abschnitt-Linie-21"/>
          <p:cNvSpPr/>
          <p:nvPr/>
        </p:nvSpPr>
        <p:spPr>
          <a:xfrm>
            <a:off x="698500" y="2159000"/>
            <a:ext cx="39878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" name="Abschnitt-22"/>
          <p:cNvSpPr txBox="1"/>
          <p:nvPr/>
        </p:nvSpPr>
        <p:spPr>
          <a:xfrm>
            <a:off x="5828030" y="1854200"/>
            <a:ext cx="566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Dimensionen des übergreifenden Zielbilds</a:t>
            </a:r>
            <a:endParaRPr lang="en-US" sz="1400" dirty="0"/>
          </a:p>
        </p:txBody>
      </p:sp>
      <p:sp>
        <p:nvSpPr>
          <p:cNvPr id="6" name="Abschnitt-Linie-23"/>
          <p:cNvSpPr/>
          <p:nvPr/>
        </p:nvSpPr>
        <p:spPr>
          <a:xfrm>
            <a:off x="5739130" y="2159000"/>
            <a:ext cx="57531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7" name="Venn-unten"/>
          <p:cNvSpPr/>
          <p:nvPr/>
        </p:nvSpPr>
        <p:spPr>
          <a:xfrm>
            <a:off x="800100" y="3937000"/>
            <a:ext cx="3683000" cy="2286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156082"/>
            </a:solidFill>
            <a:prstDash val="solid"/>
          </a:ln>
        </p:spPr>
      </p:sp>
      <p:sp>
        <p:nvSpPr>
          <p:cNvPr id="8" name="Venn-oben"/>
          <p:cNvSpPr/>
          <p:nvPr/>
        </p:nvSpPr>
        <p:spPr>
          <a:xfrm>
            <a:off x="800100" y="2197100"/>
            <a:ext cx="3683000" cy="2286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1560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9500" y="2451100"/>
            <a:ext cx="3124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europäischen Fußball: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Bundesliga und 2. Bundesliga nehmen unter den Top-5-Ligen in Europa eine Führungsrolle bei Stadion- und Digitalinfrastruktur ein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79500" y="4699000"/>
            <a:ext cx="312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Wettbewerbsfähigkeit bei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Groß-Events: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 ist wettbewerbsfähig für die Austragung internationaler Sport- und Entertainment-Großereignisse</a:t>
            </a:r>
            <a:endParaRPr lang="en-US" sz="1400" dirty="0"/>
          </a:p>
        </p:txBody>
      </p:sp>
      <p:pic>
        <p:nvPicPr>
          <p:cNvPr id="11" name="Icon-24" descr="/home/user/EastEnd-46/ppt-master/media/icon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80" y="2520950"/>
            <a:ext cx="304800" cy="304800"/>
          </a:xfrm>
          <a:prstGeom prst="rect">
            <a:avLst/>
          </a:prstGeom>
        </p:spPr>
      </p:pic>
      <p:sp>
        <p:nvSpPr>
          <p:cNvPr id="12" name="Icon-Text-25"/>
          <p:cNvSpPr txBox="1"/>
          <p:nvPr/>
        </p:nvSpPr>
        <p:spPr>
          <a:xfrm>
            <a:off x="6202680" y="2508250"/>
            <a:ext cx="527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Kommerzielle Stärke: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Abstände zu anderen Ländern z.B. mit Blick auf externen Kapitalzufluss werden kompensiert durch optimierte kommerzielle Verwertbarkeit von physischer und digitaler Infrastruktur.</a:t>
            </a:r>
            <a:endParaRPr lang="en-US" sz="1400" dirty="0"/>
          </a:p>
        </p:txBody>
      </p:sp>
      <p:pic>
        <p:nvPicPr>
          <p:cNvPr id="13" name="Icon-26" descr="/home/user/EastEnd-46/ppt-master/media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380" y="3606800"/>
            <a:ext cx="304800" cy="304800"/>
          </a:xfrm>
          <a:prstGeom prst="rect">
            <a:avLst/>
          </a:prstGeom>
        </p:spPr>
      </p:pic>
      <p:sp>
        <p:nvSpPr>
          <p:cNvPr id="14" name="Icon-Text-27"/>
          <p:cNvSpPr txBox="1"/>
          <p:nvPr/>
        </p:nvSpPr>
        <p:spPr>
          <a:xfrm>
            <a:off x="6202680" y="3594100"/>
            <a:ext cx="527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Technologische Exzellenz: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Stadien ermöglichen ein führendes Medienprodukt, datenbasierte Innovationen und ein vernetztes Fan-Erlebnis.</a:t>
            </a:r>
            <a:endParaRPr lang="en-US" sz="1400" dirty="0"/>
          </a:p>
        </p:txBody>
      </p:sp>
      <p:pic>
        <p:nvPicPr>
          <p:cNvPr id="15" name="Icon-28" descr="/home/user/EastEnd-46/ppt-master/media/icon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80" y="4476750"/>
            <a:ext cx="304800" cy="304800"/>
          </a:xfrm>
          <a:prstGeom prst="rect">
            <a:avLst/>
          </a:prstGeom>
        </p:spPr>
      </p:pic>
      <p:sp>
        <p:nvSpPr>
          <p:cNvPr id="16" name="Icon-Text-29"/>
          <p:cNvSpPr txBox="1"/>
          <p:nvPr/>
        </p:nvSpPr>
        <p:spPr>
          <a:xfrm>
            <a:off x="6202680" y="4464050"/>
            <a:ext cx="527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Nachhaltige Infrastruktur: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Energieeffiziente und resilientere Spielstätten erfüllen steigende regulatorische Anforderungen und ermöglichen hohe Betriebskosteneffizienz.</a:t>
            </a:r>
            <a:endParaRPr lang="en-US" sz="1400" dirty="0"/>
          </a:p>
        </p:txBody>
      </p:sp>
      <p:pic>
        <p:nvPicPr>
          <p:cNvPr id="17" name="Icon-30" descr="/home/user/EastEnd-46/ppt-master/media/icon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380" y="5346700"/>
            <a:ext cx="304800" cy="304800"/>
          </a:xfrm>
          <a:prstGeom prst="rect">
            <a:avLst/>
          </a:prstGeom>
        </p:spPr>
      </p:pic>
      <p:sp>
        <p:nvSpPr>
          <p:cNvPr id="18" name="Icon-Text-31"/>
          <p:cNvSpPr txBox="1"/>
          <p:nvPr/>
        </p:nvSpPr>
        <p:spPr>
          <a:xfrm>
            <a:off x="6202680" y="5334000"/>
            <a:ext cx="527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Gesellschaftliche und regionale Wirkung: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Stadien stärken Begegnung, Standorte und lokale Wertschöpfungsnetzwerke.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nächste Stadiongeneration stärkt die wirtschaftliche Wertschöpfung über Jahrzehnte durch Erfüllung höchster Standards</a:t>
            </a:r>
            <a:endParaRPr lang="en-US" sz="2400" dirty="0"/>
          </a:p>
        </p:txBody>
      </p:sp>
      <p:sp>
        <p:nvSpPr>
          <p:cNvPr id="3" name="Label-Chip-32"/>
          <p:cNvSpPr/>
          <p:nvPr/>
        </p:nvSpPr>
        <p:spPr>
          <a:xfrm>
            <a:off x="698500" y="1854200"/>
            <a:ext cx="2171700" cy="495300"/>
          </a:xfrm>
          <a:prstGeom prst="roundRect">
            <a:avLst>
              <a:gd name="adj" fmla="val 1538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Medienprodukt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28340" y="17526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Kamerapositionen, Produktionsflächen, Audio, Remote Produktion prägen Qualität und Innovationsfähigkeit des Medienprodukts – auf Club- und Ligaebene.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8500" y="2476500"/>
            <a:ext cx="10795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6" name="Label-Chip-33"/>
          <p:cNvSpPr/>
          <p:nvPr/>
        </p:nvSpPr>
        <p:spPr>
          <a:xfrm>
            <a:off x="698500" y="2611120"/>
            <a:ext cx="2171700" cy="495300"/>
          </a:xfrm>
          <a:prstGeom prst="roundRect">
            <a:avLst>
              <a:gd name="adj" fmla="val 1538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 &amp; Konnektivität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28340" y="250952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Wi-Fi, 5G, IoT-Sensorik und integrierte Datenplattformen sind das Rückgrat neuer digitaler Produkte.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8500" y="3233420"/>
            <a:ext cx="10795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9" name="Label-Chip-34"/>
          <p:cNvSpPr/>
          <p:nvPr/>
        </p:nvSpPr>
        <p:spPr>
          <a:xfrm>
            <a:off x="698500" y="3368040"/>
            <a:ext cx="2171700" cy="495300"/>
          </a:xfrm>
          <a:prstGeom prst="roundRect">
            <a:avLst>
              <a:gd name="adj" fmla="val 1538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28340" y="326644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Seats, Logen und weitere Premiumangebote sind wesentliche kommerzielle Treiber im Stadionbetrieb und werden zunehmend differenzierter.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8500" y="3990340"/>
            <a:ext cx="10795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2" name="Label-Chip-35"/>
          <p:cNvSpPr/>
          <p:nvPr/>
        </p:nvSpPr>
        <p:spPr>
          <a:xfrm>
            <a:off x="698500" y="4124960"/>
            <a:ext cx="2171700" cy="495300"/>
          </a:xfrm>
          <a:prstGeom prst="roundRect">
            <a:avLst>
              <a:gd name="adj" fmla="val 1538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Fan-Erlebnis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28340" y="402336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Komplementäre Angebote im Stadionumfeld (z.B. Retail) und Rahmenprogramm ergänzen in hybrider Form (physisch und digital) das Live-Event – digitale Flächen sind dabei wichtige Enabler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8500" y="4747260"/>
            <a:ext cx="10795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Label-Chip-36"/>
          <p:cNvSpPr/>
          <p:nvPr/>
        </p:nvSpPr>
        <p:spPr>
          <a:xfrm>
            <a:off x="698500" y="4881880"/>
            <a:ext cx="2171700" cy="495300"/>
          </a:xfrm>
          <a:prstGeom prst="roundRect">
            <a:avLst>
              <a:gd name="adj" fmla="val 1538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Nachhaltigkeit, Energie &amp; Operations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28340" y="478028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Energieeffizienz, Kreislaufwirtschaft, Automatisierung und Predictive Maintenance senken Betriebskosten und erhöhen Zukunftsfähigkeit.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8500" y="5504180"/>
            <a:ext cx="10795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Label-Chip-37"/>
          <p:cNvSpPr/>
          <p:nvPr/>
        </p:nvSpPr>
        <p:spPr>
          <a:xfrm>
            <a:off x="698500" y="5638800"/>
            <a:ext cx="2171700" cy="495300"/>
          </a:xfrm>
          <a:prstGeom prst="roundRect">
            <a:avLst>
              <a:gd name="adj" fmla="val 1538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365-Tage-Nutzung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28340" y="55372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Ganzjährige Auslastung durch Sportveranstaltungen, Konzerte, und weitere Nutzungsformen ist elementar für Rentabilität von Stadien – Modularität und schnelle Wechselzeiten notwendig.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 und Stadioninfrastruktur bestimmt das Medienprodukt von morgen – die zentrale Erlössäule im Profifußball</a:t>
            </a:r>
            <a:endParaRPr lang="en-US" sz="2400" dirty="0"/>
          </a:p>
        </p:txBody>
      </p:sp>
      <p:sp>
        <p:nvSpPr>
          <p:cNvPr id="3" name="Statement"/>
          <p:cNvSpPr/>
          <p:nvPr/>
        </p:nvSpPr>
        <p:spPr>
          <a:xfrm>
            <a:off x="2038350" y="1769110"/>
            <a:ext cx="8115300" cy="584200"/>
          </a:xfrm>
          <a:prstGeom prst="roundRect">
            <a:avLst>
              <a:gd name="adj" fmla="val 13043"/>
            </a:avLst>
          </a:prstGeom>
          <a:solidFill>
            <a:srgbClr val="D9D9D9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Stadioninfrastruktur bestimmt, welches Medienprodukt hergestellt und vermarktet werden kann – und ist damit Werttreiber des gesamten Mediengeschäfts im Profifußball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7400" y="26797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Heute…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468870" y="26797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Zukünftig…</a:t>
            </a:r>
            <a:endParaRPr lang="en-US" sz="1400" dirty="0"/>
          </a:p>
        </p:txBody>
      </p:sp>
      <p:sp>
        <p:nvSpPr>
          <p:cNvPr id="6" name="Fluss-Pfeil-38"/>
          <p:cNvSpPr/>
          <p:nvPr/>
        </p:nvSpPr>
        <p:spPr>
          <a:xfrm>
            <a:off x="4064000" y="3289300"/>
            <a:ext cx="300990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dash"/>
            <a:tailEnd type="triangle"/>
          </a:ln>
        </p:spPr>
      </p:sp>
      <p:sp>
        <p:nvSpPr>
          <p:cNvPr id="7" name="Fluss-Pfeil-39"/>
          <p:cNvSpPr/>
          <p:nvPr/>
        </p:nvSpPr>
        <p:spPr>
          <a:xfrm>
            <a:off x="4064000" y="3726180"/>
            <a:ext cx="300990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dash"/>
            <a:tailEnd type="triangle"/>
          </a:ln>
        </p:spPr>
      </p:sp>
      <p:sp>
        <p:nvSpPr>
          <p:cNvPr id="8" name="Fluss-Pfeil-40"/>
          <p:cNvSpPr/>
          <p:nvPr/>
        </p:nvSpPr>
        <p:spPr>
          <a:xfrm>
            <a:off x="4064000" y="4161790"/>
            <a:ext cx="300990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dash"/>
            <a:tailEnd type="triangle"/>
          </a:ln>
        </p:spPr>
      </p:sp>
      <p:sp>
        <p:nvSpPr>
          <p:cNvPr id="9" name="Fluss-Pfeil-41"/>
          <p:cNvSpPr/>
          <p:nvPr/>
        </p:nvSpPr>
        <p:spPr>
          <a:xfrm>
            <a:off x="4064000" y="4597400"/>
            <a:ext cx="300990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dash"/>
            <a:tailEnd type="triangle"/>
          </a:ln>
        </p:spPr>
      </p:sp>
      <p:sp>
        <p:nvSpPr>
          <p:cNvPr id="10" name="Fluss-Pfeil-42"/>
          <p:cNvSpPr/>
          <p:nvPr/>
        </p:nvSpPr>
        <p:spPr>
          <a:xfrm>
            <a:off x="4064000" y="5034280"/>
            <a:ext cx="300990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dash"/>
            <a:tailEnd type="triangle"/>
          </a:ln>
        </p:spPr>
      </p:sp>
      <p:sp>
        <p:nvSpPr>
          <p:cNvPr id="11" name="Bildrahmen"/>
          <p:cNvSpPr/>
          <p:nvPr/>
        </p:nvSpPr>
        <p:spPr>
          <a:xfrm>
            <a:off x="4343400" y="2923540"/>
            <a:ext cx="2451100" cy="243967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12" name="Image 0" descr="/home/user/EastEnd-46/ppt-master/media/photo_backdrop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925" y="2933065"/>
            <a:ext cx="2432050" cy="24206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445000" y="3873500"/>
            <a:ext cx="2247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Stadioninfrastruktur ist zentrale Voraussetzung</a:t>
            </a:r>
            <a:endParaRPr lang="en-US" sz="1400" dirty="0"/>
          </a:p>
        </p:txBody>
      </p:sp>
      <p:sp>
        <p:nvSpPr>
          <p:cNvPr id="14" name="Aufzaehlung-43"/>
          <p:cNvSpPr txBox="1"/>
          <p:nvPr/>
        </p:nvSpPr>
        <p:spPr>
          <a:xfrm>
            <a:off x="787400" y="3124200"/>
            <a:ext cx="317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Lineares Broadcasting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„Klassische“ Vor-Ort-Produktion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 standardisierte Signale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Broadcast-zentriert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Primär nationales Produkt</a:t>
            </a:r>
            <a:endParaRPr lang="en-US" sz="1400" dirty="0"/>
          </a:p>
        </p:txBody>
      </p:sp>
      <p:sp>
        <p:nvSpPr>
          <p:cNvPr id="15" name="Aufzaehlung-44"/>
          <p:cNvSpPr txBox="1"/>
          <p:nvPr/>
        </p:nvSpPr>
        <p:spPr>
          <a:xfrm>
            <a:off x="7468870" y="31242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Multi-Plattform und D2C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Automatisierte und Remote Produktion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Individualisierte Feeds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Daten, Tracking, AR und immersive Formate</a:t>
            </a:r>
            <a:endParaRPr lang="en-US" sz="1400" dirty="0"/>
          </a:p>
          <a:p>
            <a:pPr marL="285750" indent="-28575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Globales digitales Produkt</a:t>
            </a:r>
            <a:endParaRPr lang="en-US" sz="1400" dirty="0"/>
          </a:p>
        </p:txBody>
      </p:sp>
      <p:sp>
        <p:nvSpPr>
          <p:cNvPr id="16" name="Kernaussage-45"/>
          <p:cNvSpPr/>
          <p:nvPr/>
        </p:nvSpPr>
        <p:spPr>
          <a:xfrm>
            <a:off x="2171700" y="5562600"/>
            <a:ext cx="7848600" cy="5588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Medienkonsum, -technologie und -märkte verändern sich fundamental – physische und auch digitale Produktionsinfrastruktur in Stadien muss sich daher signifikant verbessern</a:t>
            </a:r>
            <a:endParaRPr lang="en-US" sz="1400" dirty="0"/>
          </a:p>
        </p:txBody>
      </p:sp>
      <p:sp>
        <p:nvSpPr>
          <p:cNvPr id="17" name="Kernaussage-Pfeil-46"/>
          <p:cNvSpPr/>
          <p:nvPr/>
        </p:nvSpPr>
        <p:spPr>
          <a:xfrm rot="5400000">
            <a:off x="1906588" y="5738813"/>
            <a:ext cx="530860" cy="206375"/>
          </a:xfrm>
          <a:prstGeom prst="triangl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enas made for Germany">
      <a:dk1>
        <a:srgbClr val="000000"/>
      </a:dk1>
      <a:lt1>
        <a:srgbClr val="FFFFFF"/>
      </a:lt1>
      <a:dk2>
        <a:srgbClr val="156082"/>
      </a:dk2>
      <a:lt2>
        <a:srgbClr val="F2F2F2"/>
      </a:lt2>
      <a:accent1>
        <a:srgbClr val="0070C0"/>
      </a:accent1>
      <a:accent2>
        <a:srgbClr val="BFE4FF"/>
      </a:accent2>
      <a:accent3>
        <a:srgbClr val="7F7F7F"/>
      </a:accent3>
      <a:accent4>
        <a:srgbClr val="D9D9D9"/>
      </a:accent4>
      <a:accent5>
        <a:srgbClr val="156082"/>
      </a:accent5>
      <a:accent6>
        <a:srgbClr val="A6A6A6"/>
      </a:accent6>
      <a:hlink>
        <a:srgbClr val="0070C0"/>
      </a:hlink>
      <a:folHlink>
        <a:srgbClr val="767676"/>
      </a:folHlink>
    </a:clrScheme>
    <a:fontScheme name="A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Arenas made for Germany – Beispiele</dc:title>
  <dc:subject>PptxGenJS Presentation</dc:subject>
  <dc:creator>Axel Hellmann, Philipp Heßberger</dc:creator>
  <cp:lastModifiedBy>Axel Hellmann, Philipp Heßberger</cp:lastModifiedBy>
  <cp:revision>1</cp:revision>
  <dcterms:created xsi:type="dcterms:W3CDTF">2026-10-05T13:10:37Z</dcterms:created>
  <dcterms:modified xsi:type="dcterms:W3CDTF">2026-10-05T13:10:37Z</dcterms:modified>
</cp:coreProperties>
</file>